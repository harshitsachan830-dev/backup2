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7351E8" accent2="FF762C" accent3="287FC0" accent4="16A466" accent5="F2B544" accent6="DA5B64" hlink="0000FF" folHlink="800080"/>
  <p:sldLayoutIdLst>
    <p:sldLayoutId id="1" r:id="rId1"/>
  </p:sldLayoutIdLst>
  <p:txStyles>
    <p:titleStyle>
      <a:lvl1pPr>
        <a:defRPr sz="3200" b="1">
          <a:latin typeface="Aptos Display"/>
        </a:defRPr>
      </a:lvl1pPr>
    </p:titleStyle>
    <p:bodyStyle>
      <a:lvl1pPr>
        <a:defRPr sz="1800">
          <a:latin typeface="Aptos"/>
        </a:defRPr>
      </a:lvl1pPr>
    </p:bodyStyle>
    <p:otherStyle>
      <a:lvl1pPr>
        <a:defRPr sz="1800">
          <a:latin typeface="Aptos"/>
        </a:defRPr>
      </a:lvl1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FF762C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8286750" y="0"/>
            <a:ext cx="3905250" cy="6858000"/>
          </a:xfrm>
          <a:prstGeom prst="rect">
            <a:avLst/>
          </a:prstGeom>
          <a:solidFill>
            <a:srgbClr val="142548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495300"/>
            <a:ext cx="5905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7351E8"/>
                </a:solidFill>
                <a:latin typeface="Aptos"/>
              </a:rPr>
              <a:t>INNOTECH’26  •  SOFTWARE CATEGORY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685800" y="1524000"/>
            <a:ext cx="7048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4800" b="1">
                <a:solidFill>
                  <a:srgbClr val="142548"/>
                </a:solidFill>
                <a:latin typeface="Aptos"/>
              </a:rPr>
              <a:t>ModelMind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04850" y="2628900"/>
            <a:ext cx="6810375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250" b="1">
                <a:solidFill>
                  <a:srgbClr val="20263A"/>
                </a:solidFill>
                <a:latin typeface="Aptos"/>
              </a:rPr>
              <a:t>A machine learning workspace
with a built-in error assistant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704850" y="3943350"/>
            <a:ext cx="65722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425" b="0">
                <a:solidFill>
                  <a:srgbClr val="61718F"/>
                </a:solidFill>
                <a:latin typeface="Aptos"/>
              </a:rPr>
              <a:t>Notebook • Visual learning labs • Local-first AI help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704850" y="5734050"/>
            <a:ext cx="6191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00" b="1">
                <a:solidFill>
                  <a:srgbClr val="61718F"/>
                </a:solidFill>
                <a:latin typeface="Aptos"/>
              </a:rPr>
              <a:t>InnoTech 2026  |  Project presentation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991600" y="1381125"/>
            <a:ext cx="2171700" cy="2171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401175" y="1952625"/>
            <a:ext cx="14287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4500" b="1">
                <a:solidFill>
                  <a:srgbClr val="FF762C"/>
                </a:solidFill>
                <a:latin typeface="Aptos"/>
              </a:rPr>
              <a:t>M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8801100" y="3905250"/>
            <a:ext cx="28575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2250" b="1">
                <a:solidFill>
                  <a:srgbClr val="FFFFFF"/>
                </a:solidFill>
                <a:latin typeface="Aptos"/>
              </a:rPr>
              <a:t>ModelMind</a:t>
            </a:r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801100" y="4457700"/>
            <a:ext cx="2857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975" b="1">
                <a:solidFill>
                  <a:srgbClr val="D8DEF2"/>
                </a:solidFill>
                <a:latin typeface="Aptos"/>
              </a:rPr>
              <a:t>LEARN  •  BUILD  •  DEBUG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351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33400" y="3238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1">
                <a:solidFill>
                  <a:srgbClr val="7351E8"/>
                </a:solidFill>
                <a:latin typeface="Aptos"/>
              </a:rPr>
              <a:t>MODEL MIND × INNOTECH 2026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33400" y="723900"/>
            <a:ext cx="10953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550" b="1">
                <a:solidFill>
                  <a:srgbClr val="142548"/>
                </a:solidFill>
                <a:latin typeface="Aptos"/>
              </a:rPr>
              <a:t>The machine learning workflow is fragmented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33400" y="12954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61718F"/>
                </a:solidFill>
                <a:latin typeface="Aptos"/>
              </a:rPr>
              <a:t>ModelMind brings learning, notebooks, visual explanations and debugging into one workspace.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CE3F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33400" y="6496050"/>
            <a:ext cx="904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750" b="0">
                <a:solidFill>
                  <a:srgbClr val="61718F"/>
                </a:solidFill>
                <a:latin typeface="Aptos"/>
              </a:rPr>
              <a:t>ModelMind  •  InnoTech’26  •  Prototype overview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11258550" y="647700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900" b="1">
                <a:solidFill>
                  <a:srgbClr val="61718F"/>
                </a:solidFill>
                <a:latin typeface="Aptos"/>
              </a:rPr>
              <a:t>2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33400" y="2038350"/>
            <a:ext cx="5238750" cy="390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F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838200" y="23431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875" b="1">
                <a:solidFill>
                  <a:srgbClr val="142548"/>
                </a:solidFill>
                <a:latin typeface="Aptos"/>
              </a:rPr>
              <a:t>What slows learners down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838200" y="2933700"/>
            <a:ext cx="4476750" cy="2619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500" b="0">
                <a:solidFill>
                  <a:srgbClr val="20263A"/>
                </a:solidFill>
                <a:latin typeface="Aptos"/>
              </a:rPr>
              <a:t>Switching between lessons, notebooks and tools</a:t>
            </a:r>
            <a:endParaRPr lang="en-US"/>
          </a:p>
          <a:p>
            <a:pPr algn="l"/>
            <a:r>
              <a:rPr lang="en-US" sz="1500" b="0">
                <a:solidFill>
                  <a:srgbClr val="20263A"/>
                </a:solidFill>
                <a:latin typeface="Aptos"/>
              </a:rPr>
              <a:t>Errors often show what failed, not how to fix it</a:t>
            </a:r>
            <a:endParaRPr lang="en-US"/>
          </a:p>
          <a:p>
            <a:pPr algn="l"/>
            <a:r>
              <a:rPr lang="en-US" sz="1500" b="0">
                <a:solidFill>
                  <a:srgbClr val="20263A"/>
                </a:solidFill>
                <a:latin typeface="Aptos"/>
              </a:rPr>
              <a:t>Model behavior can be hard to see from code alone</a:t>
            </a:r>
            <a:endParaRPr lang="en-US"/>
          </a:p>
          <a:p>
            <a:pPr algn="l"/>
            <a:r>
              <a:rPr lang="en-US" sz="1500" b="0">
                <a:solidFill>
                  <a:srgbClr val="20263A"/>
                </a:solidFill>
                <a:latin typeface="Aptos"/>
              </a:rPr>
              <a:t>Getting help can mean sending code outside your machine</a:t>
            </a:r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6076950" y="2038350"/>
            <a:ext cx="5581650" cy="3905250"/>
          </a:xfrm>
          <a:prstGeom prst="roundRect">
            <a:avLst/>
          </a:prstGeom>
          <a:solidFill>
            <a:srgbClr val="E9E8FD"/>
          </a:solidFill>
          <a:ln w="12700">
            <a:solidFill>
              <a:srgbClr val="DCD9FC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381750" y="22669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725" b="1">
                <a:solidFill>
                  <a:srgbClr val="7351E8"/>
                </a:solidFill>
                <a:latin typeface="Aptos"/>
              </a:rPr>
              <a:t>One workspace for the full loop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6400800" y="2857500"/>
            <a:ext cx="47625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575" b="0">
                <a:solidFill>
                  <a:srgbClr val="20263A"/>
                </a:solidFill>
                <a:latin typeface="Aptos"/>
              </a:rPr>
              <a:t>Learn with guided roadmaps</a:t>
            </a:r>
            <a:endParaRPr lang="en-US"/>
          </a:p>
          <a:p>
            <a:pPr algn="l"/>
            <a:r>
              <a:rPr lang="en-US" sz="1575" b="0">
                <a:solidFill>
                  <a:srgbClr val="20263A"/>
                </a:solidFill>
                <a:latin typeface="Aptos"/>
              </a:rPr>
              <a:t>Experiment in a Jupyter notebook</a:t>
            </a:r>
            <a:endParaRPr lang="en-US"/>
          </a:p>
          <a:p>
            <a:pPr algn="l"/>
            <a:r>
              <a:rPr lang="en-US" sz="1575" b="0">
                <a:solidFill>
                  <a:srgbClr val="20263A"/>
                </a:solidFill>
                <a:latin typeface="Aptos"/>
              </a:rPr>
              <a:t>Explore interactive algorithm visualizations</a:t>
            </a:r>
            <a:endParaRPr lang="en-US"/>
          </a:p>
          <a:p>
            <a:pPr algn="l"/>
            <a:r>
              <a:rPr lang="en-US" sz="1575" b="0">
                <a:solidFill>
                  <a:srgbClr val="20263A"/>
                </a:solidFill>
                <a:latin typeface="Aptos"/>
              </a:rPr>
              <a:t>Diagnose and review fixes with the AI Error Assistant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351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33400" y="3238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1">
                <a:solidFill>
                  <a:srgbClr val="7351E8"/>
                </a:solidFill>
                <a:latin typeface="Aptos"/>
              </a:rPr>
              <a:t>MODEL MIND × INNOTECH 2026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33400" y="723900"/>
            <a:ext cx="10953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550" b="1">
                <a:solidFill>
                  <a:srgbClr val="142548"/>
                </a:solidFill>
                <a:latin typeface="Aptos"/>
              </a:rPr>
              <a:t>A deployed workspace with clear entry points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33400" y="12954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61718F"/>
                </a:solidFill>
                <a:latin typeface="Aptos"/>
              </a:rPr>
              <a:t>The web dashboard connects learning paths, notebook work and visualization labs.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CE3F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33400" y="6496050"/>
            <a:ext cx="904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750" b="0">
                <a:solidFill>
                  <a:srgbClr val="61718F"/>
                </a:solidFill>
                <a:latin typeface="Aptos"/>
              </a:rPr>
              <a:t>ModelMind  •  InnoTech’26  •  Prototype overview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11258550" y="647700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900" b="1">
                <a:solidFill>
                  <a:srgbClr val="61718F"/>
                </a:solidFill>
                <a:latin typeface="Aptos"/>
              </a:rPr>
              <a:t>3</a:t>
            </a:r>
            <a:endParaRPr lang="en-US"/>
          </a:p>
        </p:txBody>
      </p:sp>
      <p:pic>
        <p:nvPicPr>
          <p:cNvPr id="11" name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52625"/>
            <a:ext cx="11125200" cy="4171950"/>
          </a:xfrm>
          <a:prstGeom prst="rect">
            <a:avLst/>
          </a:prstGeom>
        </p:spPr>
      </p:pic>
      <p:pic>
        <p:nvPicPr>
          <p:cNvPr id="19" name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52625"/>
            <a:ext cx="1112520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351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33400" y="3238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1">
                <a:solidFill>
                  <a:srgbClr val="7351E8"/>
                </a:solidFill>
                <a:latin typeface="Aptos"/>
              </a:rPr>
              <a:t>MODEL MIND × INNOTECH 2026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33400" y="723900"/>
            <a:ext cx="10953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550" b="1">
                <a:solidFill>
                  <a:srgbClr val="142548"/>
                </a:solidFill>
                <a:latin typeface="Aptos"/>
              </a:rPr>
              <a:t>From notebook cell to a better explanation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33400" y="12954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61718F"/>
                </a:solidFill>
                <a:latin typeface="Aptos"/>
              </a:rPr>
              <a:t>The assistant starts with deterministic diagnostics and uses local Ollama when a deeper explanation is needed.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CE3F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33400" y="6496050"/>
            <a:ext cx="904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750" b="0">
                <a:solidFill>
                  <a:srgbClr val="61718F"/>
                </a:solidFill>
                <a:latin typeface="Aptos"/>
              </a:rPr>
              <a:t>ModelMind  •  InnoTech’26  •  Prototype overview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11258550" y="647700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900" b="1">
                <a:solidFill>
                  <a:srgbClr val="61718F"/>
                </a:solidFill>
                <a:latin typeface="Aptos"/>
              </a:rPr>
              <a:t>4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33400" y="2038350"/>
            <a:ext cx="5010150" cy="3867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F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81050" y="2286000"/>
            <a:ext cx="44577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800" b="1">
                <a:solidFill>
                  <a:srgbClr val="142548"/>
                </a:solidFill>
                <a:latin typeface="Aptos"/>
              </a:rPr>
              <a:t>Error Assistant flow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819150" y="2895600"/>
            <a:ext cx="4248150" cy="2324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1  Detect common Python / ML error patterns</a:t>
            </a:r>
            <a:endParaRPr lang="en-US"/>
          </a:p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2  Ask local Ollama for complex explanations</a:t>
            </a:r>
            <a:endParaRPr lang="en-US"/>
          </a:p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3  Validate a proposed change in a sandbox</a:t>
            </a:r>
            <a:endParaRPr lang="en-US"/>
          </a:p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4  Review the complete suggestion before Apply</a:t>
            </a:r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81050" y="5334000"/>
            <a:ext cx="4476750" cy="342900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FFE0C7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33450" y="5400675"/>
            <a:ext cx="414337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A44916"/>
                </a:solidFill>
                <a:latin typeface="Aptos"/>
              </a:rPr>
              <a:t>Gemini fallback is optional and consent gated</a:t>
            </a:r>
            <a:endParaRPr lang="en-US"/>
          </a:p>
        </p:txBody>
      </p:sp>
      <p:pic>
        <p:nvPicPr>
          <p:cNvPr id="16" name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247900"/>
            <a:ext cx="5829300" cy="3486150"/>
          </a:xfrm>
          <a:prstGeom prst="rect">
            <a:avLst/>
          </a:prstGeom>
        </p:spPr>
      </p:pic>
      <p:pic>
        <p:nvPicPr>
          <p:cNvPr id="20" name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247900"/>
            <a:ext cx="582930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351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33400" y="3238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1">
                <a:solidFill>
                  <a:srgbClr val="7351E8"/>
                </a:solidFill>
                <a:latin typeface="Aptos"/>
              </a:rPr>
              <a:t>MODEL MIND × INNOTECH 2026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33400" y="723900"/>
            <a:ext cx="10953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550" b="1">
                <a:solidFill>
                  <a:srgbClr val="142548"/>
                </a:solidFill>
                <a:latin typeface="Aptos"/>
              </a:rPr>
              <a:t>What is distinct about ModelMind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33400" y="12954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61718F"/>
                </a:solidFill>
                <a:latin typeface="Aptos"/>
              </a:rPr>
              <a:t>The differentiator is the way notebook help is integrated and controlled.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CE3F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33400" y="6496050"/>
            <a:ext cx="904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750" b="0">
                <a:solidFill>
                  <a:srgbClr val="61718F"/>
                </a:solidFill>
                <a:latin typeface="Aptos"/>
              </a:rPr>
              <a:t>ModelMind  •  InnoTech’26  •  Prototype overview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11258550" y="647700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900" b="1">
                <a:solidFill>
                  <a:srgbClr val="61718F"/>
                </a:solidFill>
                <a:latin typeface="Aptos"/>
              </a:rPr>
              <a:t>5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33400" y="2038350"/>
            <a:ext cx="11125200" cy="514350"/>
          </a:xfrm>
          <a:prstGeom prst="rect">
            <a:avLst/>
          </a:prstGeom>
          <a:solidFill>
            <a:srgbClr val="142548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14375" y="2171700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1">
                <a:solidFill>
                  <a:srgbClr val="FFFFFF"/>
                </a:solidFill>
                <a:latin typeface="Aptos"/>
              </a:rPr>
              <a:t>CAPABILITY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3600450" y="2171700"/>
            <a:ext cx="23336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1">
                <a:solidFill>
                  <a:srgbClr val="FFFFFF"/>
                </a:solidFill>
                <a:latin typeface="Aptos"/>
              </a:rPr>
              <a:t>COMMON WORKFLOW</a:t>
            </a:r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6362700" y="2171700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1">
                <a:solidFill>
                  <a:srgbClr val="FFFFFF"/>
                </a:solidFill>
                <a:latin typeface="Aptos"/>
              </a:rPr>
              <a:t>MODELMIND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9124950" y="21717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1">
                <a:solidFill>
                  <a:srgbClr val="FFFFFF"/>
                </a:solidFill>
                <a:latin typeface="Aptos"/>
              </a:rPr>
              <a:t>WHY IT HELPS</a:t>
            </a:r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533400" y="2552700"/>
            <a:ext cx="11125200" cy="609600"/>
          </a:xfrm>
          <a:prstGeom prst="rect">
            <a:avLst/>
          </a:prstGeom>
          <a:solidFill>
            <a:srgbClr val="F0F3FA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04850" y="2705100"/>
            <a:ext cx="2524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00" b="1">
                <a:solidFill>
                  <a:srgbClr val="142548"/>
                </a:solidFill>
                <a:latin typeface="Aptos"/>
              </a:rPr>
              <a:t>AI error support</a:t>
            </a:r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3600450" y="26765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General-purpose chat or IDE help</a:t>
            </a:r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6362700" y="26765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20263A"/>
                </a:solidFill>
                <a:latin typeface="Aptos"/>
              </a:rPr>
              <a:t>ML-focused error assistant</a:t>
            </a:r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9124950" y="2676525"/>
            <a:ext cx="22288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Relevant notebook context</a:t>
            </a:r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533400" y="3200400"/>
            <a:ext cx="111252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704850" y="3352800"/>
            <a:ext cx="2524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00" b="1">
                <a:solidFill>
                  <a:srgbClr val="142548"/>
                </a:solidFill>
                <a:latin typeface="Aptos"/>
              </a:rPr>
              <a:t>Local model option</a:t>
            </a:r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3600450" y="33242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Cloud service often required</a:t>
            </a:r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6362700" y="33242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20263A"/>
                </a:solidFill>
                <a:latin typeface="Aptos"/>
              </a:rPr>
              <a:t>Ollama runs on the user’s machine</a:t>
            </a:r>
            <a:endParaRPr lang="en-US"/>
          </a:p>
        </p:txBody>
      </p:sp>
      <p:sp>
        <p:nvSpPr>
          <p:cNvPr id="25" name="Text 25"/>
          <p:cNvSpPr txBox="1"/>
          <p:nvPr/>
        </p:nvSpPr>
        <p:spPr>
          <a:xfrm>
            <a:off x="9124950" y="3324225"/>
            <a:ext cx="22288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Keep local-model requests local</a:t>
            </a:r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533400" y="3848100"/>
            <a:ext cx="11125200" cy="609600"/>
          </a:xfrm>
          <a:prstGeom prst="rect">
            <a:avLst/>
          </a:prstGeom>
          <a:solidFill>
            <a:srgbClr val="F0F3FA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704850" y="4000500"/>
            <a:ext cx="2524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00" b="1">
                <a:solidFill>
                  <a:srgbClr val="142548"/>
                </a:solidFill>
                <a:latin typeface="Aptos"/>
              </a:rPr>
              <a:t>Fix handling</a:t>
            </a:r>
            <a:endParaRPr lang="en-US"/>
          </a:p>
        </p:txBody>
      </p:sp>
      <p:sp>
        <p:nvSpPr>
          <p:cNvPr id="28" name="Text 28"/>
          <p:cNvSpPr txBox="1"/>
          <p:nvPr/>
        </p:nvSpPr>
        <p:spPr>
          <a:xfrm>
            <a:off x="3600450" y="39719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Suggested edits can be hard to trust</a:t>
            </a:r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6362700" y="39719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20263A"/>
                </a:solidFill>
                <a:latin typeface="Aptos"/>
              </a:rPr>
              <a:t>Sandbox validation before Apply</a:t>
            </a:r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9124950" y="3971925"/>
            <a:ext cx="22288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Review before changing a cell</a:t>
            </a:r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533400" y="4495800"/>
            <a:ext cx="111252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04850" y="4648200"/>
            <a:ext cx="2524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00" b="1">
                <a:solidFill>
                  <a:srgbClr val="142548"/>
                </a:solidFill>
                <a:latin typeface="Aptos"/>
              </a:rPr>
              <a:t>Learning support</a:t>
            </a:r>
            <a:endParaRPr lang="en-US"/>
          </a:p>
        </p:txBody>
      </p:sp>
      <p:sp>
        <p:nvSpPr>
          <p:cNvPr id="33" name="Text 33"/>
          <p:cNvSpPr txBox="1"/>
          <p:nvPr/>
        </p:nvSpPr>
        <p:spPr>
          <a:xfrm>
            <a:off x="3600450" y="46196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Notebook separated from lessons</a:t>
            </a:r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6362700" y="46196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20263A"/>
                </a:solidFill>
                <a:latin typeface="Aptos"/>
              </a:rPr>
              <a:t>Roadmaps + notebook + visual labs</a:t>
            </a:r>
            <a:endParaRPr lang="en-US"/>
          </a:p>
        </p:txBody>
      </p:sp>
      <p:sp>
        <p:nvSpPr>
          <p:cNvPr id="35" name="Text 35"/>
          <p:cNvSpPr txBox="1"/>
          <p:nvPr/>
        </p:nvSpPr>
        <p:spPr>
          <a:xfrm>
            <a:off x="9124950" y="4619625"/>
            <a:ext cx="22288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Learn and experiment together</a:t>
            </a:r>
            <a:endParaRPr lang="en-US"/>
          </a:p>
        </p:txBody>
      </p:sp>
      <p:sp>
        <p:nvSpPr>
          <p:cNvPr id="36" name="Shape 36"/>
          <p:cNvSpPr/>
          <p:nvPr/>
        </p:nvSpPr>
        <p:spPr>
          <a:xfrm>
            <a:off x="533400" y="5143500"/>
            <a:ext cx="11125200" cy="609600"/>
          </a:xfrm>
          <a:prstGeom prst="rect">
            <a:avLst/>
          </a:prstGeom>
          <a:solidFill>
            <a:srgbClr val="F0F3FA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704850" y="5295900"/>
            <a:ext cx="2524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00" b="1">
                <a:solidFill>
                  <a:srgbClr val="142548"/>
                </a:solidFill>
                <a:latin typeface="Aptos"/>
              </a:rPr>
              <a:t>Credentials</a:t>
            </a:r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3600450" y="52673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Keys can end up in code/config</a:t>
            </a:r>
            <a:endParaRPr lang="en-US"/>
          </a:p>
        </p:txBody>
      </p:sp>
      <p:sp>
        <p:nvSpPr>
          <p:cNvPr id="39" name="Text 39"/>
          <p:cNvSpPr txBox="1"/>
          <p:nvPr/>
        </p:nvSpPr>
        <p:spPr>
          <a:xfrm>
            <a:off x="6362700" y="5267325"/>
            <a:ext cx="2419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20263A"/>
                </a:solidFill>
                <a:latin typeface="Aptos"/>
              </a:rPr>
              <a:t>OS credential storage supported</a:t>
            </a:r>
            <a:endParaRPr lang="en-US"/>
          </a:p>
        </p:txBody>
      </p:sp>
      <p:sp>
        <p:nvSpPr>
          <p:cNvPr id="40" name="Text 40"/>
          <p:cNvSpPr txBox="1"/>
          <p:nvPr/>
        </p:nvSpPr>
        <p:spPr>
          <a:xfrm>
            <a:off x="9124950" y="5267325"/>
            <a:ext cx="22288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0">
                <a:solidFill>
                  <a:srgbClr val="61718F"/>
                </a:solidFill>
                <a:latin typeface="Aptos"/>
              </a:rPr>
              <a:t>Keep keys out of notebooks</a:t>
            </a:r>
            <a:endParaRPr lang="en-US"/>
          </a:p>
        </p:txBody>
      </p:sp>
      <p:sp>
        <p:nvSpPr>
          <p:cNvPr id="41" name="Text 41"/>
          <p:cNvSpPr txBox="1"/>
          <p:nvPr/>
        </p:nvSpPr>
        <p:spPr>
          <a:xfrm>
            <a:off x="552450" y="5943600"/>
            <a:ext cx="10763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0">
                <a:solidFill>
                  <a:srgbClr val="61718F"/>
                </a:solidFill>
                <a:latin typeface="Aptos"/>
              </a:rPr>
              <a:t>Feature comparison is based on the supplied novelty analysis; competitor coverage may vary by version and configuration.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351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33400" y="3238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1">
                <a:solidFill>
                  <a:srgbClr val="7351E8"/>
                </a:solidFill>
                <a:latin typeface="Aptos"/>
              </a:rPr>
              <a:t>MODEL MIND × INNOTECH 2026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33400" y="723900"/>
            <a:ext cx="10953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550" b="1">
                <a:solidFill>
                  <a:srgbClr val="142548"/>
                </a:solidFill>
                <a:latin typeface="Aptos"/>
              </a:rPr>
              <a:t>How people access the product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33400" y="12954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61718F"/>
                </a:solidFill>
                <a:latin typeface="Aptos"/>
              </a:rPr>
              <a:t>The hosted workspace and local notebook companion work together; Python execution stays on the user’s computer.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CE3F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33400" y="6496050"/>
            <a:ext cx="904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750" b="0">
                <a:solidFill>
                  <a:srgbClr val="61718F"/>
                </a:solidFill>
                <a:latin typeface="Aptos"/>
              </a:rPr>
              <a:t>ModelMind  •  InnoTech’26  •  Prototype overview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11258550" y="647700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900" b="1">
                <a:solidFill>
                  <a:srgbClr val="61718F"/>
                </a:solidFill>
                <a:latin typeface="Aptos"/>
              </a:rPr>
              <a:t>6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33400" y="2019300"/>
            <a:ext cx="5048250" cy="390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F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81050" y="22669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725" b="1">
                <a:solidFill>
                  <a:srgbClr val="142548"/>
                </a:solidFill>
                <a:latin typeface="Aptos"/>
              </a:rPr>
              <a:t>Start from the project download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800100" y="2800350"/>
            <a:ext cx="44386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0">
                <a:solidFill>
                  <a:srgbClr val="20263A"/>
                </a:solidFill>
                <a:latin typeface="Aptos"/>
              </a:rPr>
              <a:t>Download the repo, then open its folder in Terminal:</a:t>
            </a:r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81050" y="3276600"/>
            <a:ext cx="4495800" cy="533400"/>
          </a:xfrm>
          <a:prstGeom prst="roundRect">
            <a:avLst/>
          </a:prstGeom>
          <a:solidFill>
            <a:srgbClr val="F1F3F8"/>
          </a:solidFill>
          <a:ln w="12700">
            <a:solidFill>
              <a:srgbClr val="DCE3F0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895350" y="3352800"/>
            <a:ext cx="42672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825" b="1">
                <a:solidFill>
                  <a:srgbClr val="20263A"/>
                </a:solidFill>
                <a:latin typeface="Aptos"/>
              </a:rPr>
              <a:t>git clone https://github.com/harshitsachan830-dev/ModelMind-Notebook.git</a:t>
            </a:r>
            <a:endParaRPr lang="en-US"/>
          </a:p>
          <a:p>
            <a:pPr algn="l"/>
            <a:r>
              <a:rPr lang="en-US" sz="825" b="1">
                <a:solidFill>
                  <a:srgbClr val="20263A"/>
                </a:solidFill>
                <a:latin typeface="Aptos"/>
              </a:rPr>
              <a:t>cd ModelMind-Notebook</a:t>
            </a:r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81050" y="3943350"/>
            <a:ext cx="4495800" cy="571500"/>
          </a:xfrm>
          <a:prstGeom prst="roundRect">
            <a:avLst/>
          </a:prstGeom>
          <a:solidFill>
            <a:srgbClr val="14254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952500" y="409575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Aptos"/>
              </a:rPr>
              <a:t>./scripts/start-platform.sh</a:t>
            </a:r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800100" y="4610100"/>
            <a:ext cx="44386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61718F"/>
                </a:solidFill>
                <a:latin typeface="Aptos"/>
              </a:rPr>
              <a:t>Windows PowerShell (from project folder)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781050" y="4991100"/>
            <a:ext cx="4495800" cy="495300"/>
          </a:xfrm>
          <a:prstGeom prst="roundRect">
            <a:avLst/>
          </a:prstGeom>
          <a:solidFill>
            <a:srgbClr val="F1F3F8"/>
          </a:solidFill>
          <a:ln w="12700">
            <a:solidFill>
              <a:srgbClr val="DCE3F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52500" y="51244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00" b="1">
                <a:solidFill>
                  <a:srgbClr val="20263A"/>
                </a:solidFill>
                <a:latin typeface="Aptos"/>
              </a:rPr>
              <a:t>.\scripts\start-platform.ps1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781050" y="561975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0">
                <a:solidFill>
                  <a:srgbClr val="61718F"/>
                </a:solidFill>
                <a:latin typeface="Aptos"/>
              </a:rPr>
              <a:t>Hosted workspace: modelmind-staging.onrender.com</a:t>
            </a:r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5905500" y="2019300"/>
            <a:ext cx="5753100" cy="390525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D2ECDD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6191250" y="2266950"/>
            <a:ext cx="5048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725" b="1">
                <a:solidFill>
                  <a:srgbClr val="146541"/>
                </a:solidFill>
                <a:latin typeface="Aptos"/>
              </a:rPr>
              <a:t>What runs where</a:t>
            </a:r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6210300" y="2819400"/>
            <a:ext cx="4953000" cy="2333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Hosted: modelmind-staging.onrender.com</a:t>
            </a:r>
            <a:endParaRPr lang="en-US"/>
          </a:p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On your device: JupyterLab, Python and notebook files</a:t>
            </a:r>
            <a:endParaRPr lang="en-US"/>
          </a:p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Optional local AI: install Ollama, then approve the model download</a:t>
            </a:r>
            <a:endParaRPr lang="en-US"/>
          </a:p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macOS/Linux: scripts/install-ollama.sh</a:t>
            </a:r>
            <a:endParaRPr lang="en-US"/>
          </a:p>
          <a:p>
            <a:pPr algn="l"/>
            <a:r>
              <a:rPr lang="en-US" sz="1350" b="0">
                <a:solidFill>
                  <a:srgbClr val="20263A"/>
                </a:solidFill>
                <a:latin typeface="Aptos"/>
              </a:rPr>
              <a:t>Windows: scripts/install-ollama.ps1</a:t>
            </a:r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6191250" y="5391150"/>
            <a:ext cx="5067300" cy="34290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BE5A5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6343650" y="54483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775515"/>
                </a:solidFill>
                <a:latin typeface="Aptos"/>
              </a:rPr>
              <a:t>Ollama model download is explicit—not automatic.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351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33400" y="3238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1">
                <a:solidFill>
                  <a:srgbClr val="7351E8"/>
                </a:solidFill>
                <a:latin typeface="Aptos"/>
              </a:rPr>
              <a:t>MODEL MIND × INNOTECH 2026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33400" y="723900"/>
            <a:ext cx="10953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550" b="1">
                <a:solidFill>
                  <a:srgbClr val="142548"/>
                </a:solidFill>
                <a:latin typeface="Aptos"/>
              </a:rPr>
              <a:t>Presentation mapped to InnoTech judging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33400" y="12954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61718F"/>
                </a:solidFill>
                <a:latin typeface="Aptos"/>
              </a:rPr>
              <a:t>The deck gives judges direct evidence for each 50-mark category.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CE3F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33400" y="6496050"/>
            <a:ext cx="904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750" b="0">
                <a:solidFill>
                  <a:srgbClr val="61718F"/>
                </a:solidFill>
                <a:latin typeface="Aptos"/>
              </a:rPr>
              <a:t>ModelMind  •  InnoTech’26  •  Prototype overview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11258550" y="647700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900" b="1">
                <a:solidFill>
                  <a:srgbClr val="61718F"/>
                </a:solidFill>
                <a:latin typeface="Aptos"/>
              </a:rPr>
              <a:t>7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33400" y="2057400"/>
            <a:ext cx="11125200" cy="495300"/>
          </a:xfrm>
          <a:prstGeom prst="rect">
            <a:avLst/>
          </a:prstGeom>
          <a:solidFill>
            <a:srgbClr val="287FC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23900" y="2190750"/>
            <a:ext cx="36385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1">
                <a:solidFill>
                  <a:srgbClr val="FFFFFF"/>
                </a:solidFill>
                <a:latin typeface="Aptos"/>
              </a:rPr>
              <a:t>JUDGING PARAMETER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4857750" y="2190750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1">
                <a:solidFill>
                  <a:srgbClr val="FFFFFF"/>
                </a:solidFill>
                <a:latin typeface="Aptos"/>
              </a:rPr>
              <a:t>EVIDENCE IN THIS PRESENTATION</a:t>
            </a:r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10810875" y="2190750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1050" b="1">
                <a:solidFill>
                  <a:srgbClr val="FFFFFF"/>
                </a:solidFill>
                <a:latin typeface="Aptos"/>
              </a:rPr>
              <a:t>MARKS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33400" y="2581275"/>
            <a:ext cx="11125200" cy="600075"/>
          </a:xfrm>
          <a:prstGeom prst="rect">
            <a:avLst/>
          </a:prstGeom>
          <a:solidFill>
            <a:srgbClr val="F0F3FA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723900" y="2733675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75" b="1">
                <a:solidFill>
                  <a:srgbClr val="142548"/>
                </a:solidFill>
                <a:latin typeface="Aptos"/>
              </a:rPr>
              <a:t>Project showcasing</a:t>
            </a:r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4857750" y="2705100"/>
            <a:ext cx="5619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0">
                <a:solidFill>
                  <a:srgbClr val="20263A"/>
                </a:solidFill>
                <a:latin typeface="Aptos"/>
              </a:rPr>
              <a:t>Product screens • workflow • access steps</a:t>
            </a:r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10810875" y="272415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1275" b="1">
                <a:solidFill>
                  <a:srgbClr val="7351E8"/>
                </a:solidFill>
                <a:latin typeface="Aptos"/>
              </a:rPr>
              <a:t>10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33400" y="3219450"/>
            <a:ext cx="11125200" cy="6000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23900" y="3371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75" b="1">
                <a:solidFill>
                  <a:srgbClr val="142548"/>
                </a:solidFill>
                <a:latin typeface="Aptos"/>
              </a:rPr>
              <a:t>Innovation &amp; novelty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4857750" y="3343275"/>
            <a:ext cx="5619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0">
                <a:solidFill>
                  <a:srgbClr val="20263A"/>
                </a:solidFill>
                <a:latin typeface="Aptos"/>
              </a:rPr>
              <a:t>Rules-first diagnostics • local AI • sandbox check</a:t>
            </a:r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10810875" y="3362325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1275" b="1">
                <a:solidFill>
                  <a:srgbClr val="7351E8"/>
                </a:solidFill>
                <a:latin typeface="Aptos"/>
              </a:rPr>
              <a:t>10</a:t>
            </a:r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533400" y="3857625"/>
            <a:ext cx="11125200" cy="600075"/>
          </a:xfrm>
          <a:prstGeom prst="rect">
            <a:avLst/>
          </a:prstGeom>
          <a:solidFill>
            <a:srgbClr val="F0F3FA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23900" y="4010025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75" b="1">
                <a:solidFill>
                  <a:srgbClr val="142548"/>
                </a:solidFill>
                <a:latin typeface="Aptos"/>
              </a:rPr>
              <a:t>Relevance &amp; application</a:t>
            </a:r>
            <a:endParaRPr lang="en-US"/>
          </a:p>
        </p:txBody>
      </p:sp>
      <p:sp>
        <p:nvSpPr>
          <p:cNvPr id="25" name="Text 25"/>
          <p:cNvSpPr txBox="1"/>
          <p:nvPr/>
        </p:nvSpPr>
        <p:spPr>
          <a:xfrm>
            <a:off x="4857750" y="3981450"/>
            <a:ext cx="5619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0">
                <a:solidFill>
                  <a:srgbClr val="20263A"/>
                </a:solidFill>
                <a:latin typeface="Aptos"/>
              </a:rPr>
              <a:t>ML learners and practitioners • notebook workflow</a:t>
            </a:r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10810875" y="40005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1275" b="1">
                <a:solidFill>
                  <a:srgbClr val="7351E8"/>
                </a:solidFill>
                <a:latin typeface="Aptos"/>
              </a:rPr>
              <a:t>10</a:t>
            </a:r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533400" y="4495800"/>
            <a:ext cx="11125200" cy="6000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723900" y="464820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75" b="1">
                <a:solidFill>
                  <a:srgbClr val="142548"/>
                </a:solidFill>
                <a:latin typeface="Aptos"/>
              </a:rPr>
              <a:t>Usability &amp; scalability</a:t>
            </a:r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4857750" y="4619625"/>
            <a:ext cx="5619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0">
                <a:solidFill>
                  <a:srgbClr val="20263A"/>
                </a:solidFill>
                <a:latin typeface="Aptos"/>
              </a:rPr>
              <a:t>Hosted dashboard • local companion • modular features</a:t>
            </a:r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10810875" y="4638675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1275" b="1">
                <a:solidFill>
                  <a:srgbClr val="7351E8"/>
                </a:solidFill>
                <a:latin typeface="Aptos"/>
              </a:rPr>
              <a:t>10</a:t>
            </a:r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533400" y="5133975"/>
            <a:ext cx="11125200" cy="600075"/>
          </a:xfrm>
          <a:prstGeom prst="rect">
            <a:avLst/>
          </a:prstGeom>
          <a:solidFill>
            <a:srgbClr val="F0F3FA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23900" y="5286375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75" b="1">
                <a:solidFill>
                  <a:srgbClr val="142548"/>
                </a:solidFill>
                <a:latin typeface="Aptos"/>
              </a:rPr>
              <a:t>Query addressing</a:t>
            </a:r>
            <a:endParaRPr lang="en-US"/>
          </a:p>
        </p:txBody>
      </p:sp>
      <p:sp>
        <p:nvSpPr>
          <p:cNvPr id="33" name="Text 33"/>
          <p:cNvSpPr txBox="1"/>
          <p:nvPr/>
        </p:nvSpPr>
        <p:spPr>
          <a:xfrm>
            <a:off x="4857750" y="5257800"/>
            <a:ext cx="5619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25" b="0">
                <a:solidFill>
                  <a:srgbClr val="20263A"/>
                </a:solidFill>
                <a:latin typeface="Aptos"/>
              </a:rPr>
              <a:t>Demo-ready architecture and implementation details</a:t>
            </a:r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10810875" y="527685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1275" b="1">
                <a:solidFill>
                  <a:srgbClr val="7351E8"/>
                </a:solidFill>
                <a:latin typeface="Aptos"/>
              </a:rPr>
              <a:t>10</a:t>
            </a:r>
            <a:endParaRPr lang="en-US"/>
          </a:p>
        </p:txBody>
      </p:sp>
      <p:sp>
        <p:nvSpPr>
          <p:cNvPr id="35" name="Shape 35"/>
          <p:cNvSpPr/>
          <p:nvPr/>
        </p:nvSpPr>
        <p:spPr>
          <a:xfrm>
            <a:off x="533400" y="5867400"/>
            <a:ext cx="11125200" cy="36195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F4DCC5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23900" y="5934075"/>
            <a:ext cx="10668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7B4B22"/>
                </a:solidFill>
                <a:latin typeface="Aptos"/>
              </a:rPr>
              <a:t>Live demo: open a notebook → trigger an error → inspect the explanation → review the suggested fix.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351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33400" y="3238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b="1">
                <a:solidFill>
                  <a:srgbClr val="7351E8"/>
                </a:solidFill>
                <a:latin typeface="Aptos"/>
              </a:rPr>
              <a:t>MODEL MIND × INNOTECH 2026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33400" y="723900"/>
            <a:ext cx="10953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550" b="1">
                <a:solidFill>
                  <a:srgbClr val="142548"/>
                </a:solidFill>
                <a:latin typeface="Aptos"/>
              </a:rPr>
              <a:t>Built now—and what comes next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33400" y="12954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50" b="0">
                <a:solidFill>
                  <a:srgbClr val="61718F"/>
                </a:solidFill>
                <a:latin typeface="Aptos"/>
              </a:rPr>
              <a:t>The prototype is available as a product experience, with clear boundaries around local AI and future features.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CE3F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33400" y="6496050"/>
            <a:ext cx="904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750" b="0">
                <a:solidFill>
                  <a:srgbClr val="61718F"/>
                </a:solidFill>
                <a:latin typeface="Aptos"/>
              </a:rPr>
              <a:t>ModelMind  •  InnoTech’26  •  Prototype overview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11258550" y="647700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900" b="1">
                <a:solidFill>
                  <a:srgbClr val="61718F"/>
                </a:solidFill>
                <a:latin typeface="Aptos"/>
              </a:rPr>
              <a:t>8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33400" y="2057400"/>
            <a:ext cx="5181600" cy="3867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F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800100" y="2305050"/>
            <a:ext cx="4572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800" b="1">
                <a:solidFill>
                  <a:srgbClr val="142548"/>
                </a:solidFill>
                <a:latin typeface="Aptos"/>
              </a:rPr>
              <a:t>Available in the prototype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819150" y="2857500"/>
            <a:ext cx="43815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Hosted ModelMind dashboard</a:t>
            </a:r>
            <a:endParaRPr lang="en-US"/>
          </a:p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Learning roadmaps and ML visualizations</a:t>
            </a:r>
            <a:endParaRPr lang="en-US"/>
          </a:p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Jupyter notebook workflow</a:t>
            </a:r>
            <a:endParaRPr lang="en-US"/>
          </a:p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ML Error Assistant with local Ollama path</a:t>
            </a:r>
            <a:endParaRPr lang="en-US"/>
          </a:p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Downloadable project + startup scripts</a:t>
            </a:r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6019800" y="2057400"/>
            <a:ext cx="5638800" cy="3867150"/>
          </a:xfrm>
          <a:prstGeom prst="roundRect">
            <a:avLst/>
          </a:prstGeom>
          <a:solidFill>
            <a:srgbClr val="F0ECFF"/>
          </a:solidFill>
          <a:ln w="12700">
            <a:solidFill>
              <a:srgbClr val="DED5FF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305550" y="230505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800" b="1">
                <a:solidFill>
                  <a:srgbClr val="7351E8"/>
                </a:solidFill>
                <a:latin typeface="Aptos"/>
              </a:rPr>
              <a:t>Future scope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6324600" y="2857500"/>
            <a:ext cx="4953000" cy="2362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VideoGPT learning companion</a:t>
            </a:r>
            <a:endParaRPr lang="en-US"/>
          </a:p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Packaged one-click desktop installers</a:t>
            </a:r>
            <a:endParaRPr lang="en-US"/>
          </a:p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Wider OS release validation</a:t>
            </a:r>
            <a:endParaRPr lang="en-US"/>
          </a:p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Additional interactive model visualizations</a:t>
            </a:r>
            <a:endParaRPr lang="en-US"/>
          </a:p>
          <a:p>
            <a:pPr algn="l"/>
            <a:r>
              <a:rPr lang="en-US" sz="1425" b="0">
                <a:solidFill>
                  <a:srgbClr val="20263A"/>
                </a:solidFill>
                <a:latin typeface="Aptos"/>
              </a:rPr>
              <a:t>More guided model-advisor workflows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6305550" y="5276850"/>
            <a:ext cx="5048250" cy="400050"/>
          </a:xfrm>
          <a:prstGeom prst="roundRect">
            <a:avLst/>
          </a:prstGeom>
          <a:solidFill>
            <a:srgbClr val="142548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477000" y="5372100"/>
            <a:ext cx="47148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VideoGPT is planned; it is not claimed as live here.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Mind">
  <a:themeElements>
    <a:clrScheme name="ModelMind">
      <a:dk1>
        <a:srgbClr val="142548"/>
      </a:dk1>
      <a:lt1>
        <a:srgbClr val="FFFFFF"/>
      </a:lt1>
      <a:dk2>
        <a:srgbClr val="20263A"/>
      </a:dk2>
      <a:lt2>
        <a:srgbClr val="F4F6FC"/>
      </a:lt2>
      <a:accent1>
        <a:srgbClr val="7351E8"/>
      </a:accent1>
      <a:accent2>
        <a:srgbClr val="FF762C"/>
      </a:accent2>
      <a:accent3>
        <a:srgbClr val="287FC0"/>
      </a:accent3>
      <a:accent4>
        <a:srgbClr val="16A466"/>
      </a:accent4>
      <a:accent5>
        <a:srgbClr val="F2B544"/>
      </a:accent5>
      <a:accent6>
        <a:srgbClr val="DA5B64"/>
      </a:accent6>
      <a:hlink>
        <a:srgbClr val="0000FF"/>
      </a:hlink>
      <a:folHlink>
        <a:srgbClr val="800080"/>
      </a:folHlink>
    </a:clrScheme>
    <a:fontScheme name="ModelMind">
      <a:majorFont>
        <a:latin typeface="Aptos Display"/>
      </a:majorFont>
      <a:minorFont>
        <a:latin typeface="Aptos"/>
      </a:minorFont>
    </a:fontScheme>
    <a:fmtScheme name="ModelMind">
      <a:fillStyleLst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